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4cf4e92dfa40c5" /><Relationship Type="http://schemas.openxmlformats.org/officeDocument/2006/relationships/extended-properties" Target="/docProps/app.xml" Id="R15ab7c349a6c459e" /><Relationship Type="http://schemas.openxmlformats.org/officeDocument/2006/relationships/officeDocument" Target="/ppt/presentation.xml" Id="R7340449440de41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59dc8b72de45a4"/>
  </p:sldMasterIdLst>
  <p:notesMasterIdLst>
    <p:notesMasterId xmlns:r="http://schemas.openxmlformats.org/officeDocument/2006/relationships" r:id="R3a8a3b834bb044b1"/>
  </p:notesMasterIdLst>
  <p:sldIdLst>
    <p:sldId xmlns:r="http://schemas.openxmlformats.org/officeDocument/2006/relationships" id="256" r:id="R695fc9b5536a48d8"/>
    <p:sldId xmlns:r="http://schemas.openxmlformats.org/officeDocument/2006/relationships" id="257" r:id="Rcc6f1aceba4f4076"/>
    <p:sldId xmlns:r="http://schemas.openxmlformats.org/officeDocument/2006/relationships" id="258" r:id="Rb167b17ea26141f0"/>
    <p:sldId xmlns:r="http://schemas.openxmlformats.org/officeDocument/2006/relationships" id="259" r:id="R0e69378628a841b5"/>
    <p:sldId xmlns:r="http://schemas.openxmlformats.org/officeDocument/2006/relationships" id="260" r:id="R9db88b0f555444f5"/>
    <p:sldId xmlns:r="http://schemas.openxmlformats.org/officeDocument/2006/relationships" id="261" r:id="R6fa4b4bec5944f4b"/>
    <p:sldId xmlns:r="http://schemas.openxmlformats.org/officeDocument/2006/relationships" id="262" r:id="Re983d68eda354683"/>
    <p:sldId xmlns:r="http://schemas.openxmlformats.org/officeDocument/2006/relationships" id="263" r:id="R079fc88482384790"/>
    <p:sldId xmlns:r="http://schemas.openxmlformats.org/officeDocument/2006/relationships" id="264" r:id="R542461280f4549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e0f2cf01cf47e3" /><Relationship Type="http://schemas.openxmlformats.org/officeDocument/2006/relationships/slideMaster" Target="/ppt/slideMasters/slideMaster1.xml" Id="Rcd59dc8b72de45a4" /><Relationship Type="http://schemas.openxmlformats.org/officeDocument/2006/relationships/notesMaster" Target="/ppt/notesMasters/notesMaster1.xml" Id="R3a8a3b834bb044b1" /><Relationship Type="http://schemas.openxmlformats.org/officeDocument/2006/relationships/presProps" Target="/ppt/presProps.xml" Id="R482c802c85ee44b6" /><Relationship Type="http://schemas.openxmlformats.org/officeDocument/2006/relationships/tableStyles" Target="/ppt/tableStyles.xml" Id="Ra9e9074b71c0429e" /><Relationship Type="http://schemas.openxmlformats.org/officeDocument/2006/relationships/slide" Target="/ppt/slides/slide1.xml" Id="R695fc9b5536a48d8" /><Relationship Type="http://schemas.openxmlformats.org/officeDocument/2006/relationships/slide" Target="/ppt/slides/slide2.xml" Id="Rcc6f1aceba4f4076" /><Relationship Type="http://schemas.openxmlformats.org/officeDocument/2006/relationships/slide" Target="/ppt/slides/slide3.xml" Id="Rb167b17ea26141f0" /><Relationship Type="http://schemas.openxmlformats.org/officeDocument/2006/relationships/slide" Target="/ppt/slides/slide4.xml" Id="R0e69378628a841b5" /><Relationship Type="http://schemas.openxmlformats.org/officeDocument/2006/relationships/slide" Target="/ppt/slides/slide5.xml" Id="R9db88b0f555444f5" /><Relationship Type="http://schemas.openxmlformats.org/officeDocument/2006/relationships/slide" Target="/ppt/slides/slide6.xml" Id="R6fa4b4bec5944f4b" /><Relationship Type="http://schemas.openxmlformats.org/officeDocument/2006/relationships/slide" Target="/ppt/slides/slide7.xml" Id="Re983d68eda354683" /><Relationship Type="http://schemas.openxmlformats.org/officeDocument/2006/relationships/slide" Target="/ppt/slides/slide8.xml" Id="R079fc88482384790" /><Relationship Type="http://schemas.openxmlformats.org/officeDocument/2006/relationships/slide" Target="/ppt/slides/slide9.xml" Id="R542461280f4549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7a45767b8e4f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fd319283d94d9b" /><Relationship Type="http://schemas.openxmlformats.org/officeDocument/2006/relationships/notesMaster" Target="/ppt/notesMasters/notesMaster1.xml" Id="R98cd4b50b6d648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1887c7a04b4e30" /><Relationship Type="http://schemas.openxmlformats.org/officeDocument/2006/relationships/notesMaster" Target="/ppt/notesMasters/notesMaster1.xml" Id="R3cae2ae3f6c444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3500ec961d4c30" /><Relationship Type="http://schemas.openxmlformats.org/officeDocument/2006/relationships/notesMaster" Target="/ppt/notesMasters/notesMaster1.xml" Id="Re3f9d7fa37fd47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c01c7b0d8048fa" /><Relationship Type="http://schemas.openxmlformats.org/officeDocument/2006/relationships/notesMaster" Target="/ppt/notesMasters/notesMaster1.xml" Id="R1fcea31310374d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b2cea0335f46bb" /><Relationship Type="http://schemas.openxmlformats.org/officeDocument/2006/relationships/notesMaster" Target="/ppt/notesMasters/notesMaster1.xml" Id="R80d563f9ac5040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7eed5d2579495a" /><Relationship Type="http://schemas.openxmlformats.org/officeDocument/2006/relationships/notesMaster" Target="/ppt/notesMasters/notesMaster1.xml" Id="R356762864d0648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69ee86c5b84627" /><Relationship Type="http://schemas.openxmlformats.org/officeDocument/2006/relationships/notesMaster" Target="/ppt/notesMasters/notesMaster1.xml" Id="R7885d9c39a5c42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c0c59dd405466e" /><Relationship Type="http://schemas.openxmlformats.org/officeDocument/2006/relationships/notesMaster" Target="/ppt/notesMasters/notesMaster1.xml" Id="R95e5261ec24c45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5991e7d2994d2a" /><Relationship Type="http://schemas.openxmlformats.org/officeDocument/2006/relationships/notesMaster" Target="/ppt/notesMasters/notesMaster1.xml" Id="R083b1e4abbaf4c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 (30–40 s). Apresente o FutBotão como um jogo de futebol de botão para dois clientes. Explique que o foco do trabalho é a comunicação distribuída: os navegadores enviam ações ao servidor, e o servidor mantém o estado oficial da partida.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cerca de 1 minuto. Mostre que ambos os navegadores conversam com a mesma instância do backend. O proxy do Vite em frontend/vite.config.ts encaminha /rpc e /status para localhost:8080, evitando configurar CORS para o desenvolvimento. A camada de interface não é autoridade sobre o placar.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cerca de 1 minuto. Explique o fluxo completo. partida.criar cria a sala e retorna código, token e estado inicial. partida.entrar adiciona o segundo participante e define o primeiro turno. Cada jogada é enviada ao servidor. O polling periódico de partida.obterEstado faz o outro navegador enxergar a mudança.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cerca de 1 minuto. A classe principal inicia o Spring Boot. JsonRpcController é a fronteira HTTP/JSON-RPC e transforma o método remoto na chamada correta do serviço. PartidaService concentra as regras de negócio. Um ConcurrentHashMap guarda as partidas e cada operação sincroniza na instância da sala para evitar atualizações concorrentes inconsistentes. StatusController disponibiliza GET /status. JogadorController e JogadorService são um cadastro REST auxiliar, separado das identidades temporárias de cada partida.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cerca de 1 minuto. PartidaService normaliza o vetor de direção, calcula a distância de acordo com a força e limita a peça às bordas. O serviço projeta a bola sobre o caminho da peça para detectar contato. Se a distância for até 2,5, a bola é impulsionada. O gol depende da posição final sem limitar antes de verificar se cruzou a linha, e da faixa vertical entre 25 e 35. Depois de cada gol, o placar muda e as posições são reiniciadas; no terceiro gol, o estado passa a ENCERRADA.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cerca de 1 minuto. App.tsx liga os componentes ao hook usePartida e mostra a tela inicial, espera, partida ou fim. O hook guarda código, token e identificação local em sessionStorage, chama a API e consulta o estado a cada segundo enquanto a partida está ativa. api/rpc.ts monta a requisição JSON-RPC e converte erros para mensagens da interface. Os componentes mostram a experiência do jogo. game/geometria.ts transforma arrastos em coordenadas lógicas e prevê a mira; essa previsão é apenas visual, o servidor continua decidindo o resultado.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45–60 s. Cite o documento docs/contrato-json-rpc.md, que define parâmetros, resultados e códigos de erro. JSON-RPC usa jsonrpc, method, params e id; a resposta contém result ou error e ecoa id. Erros de regra identificam, por exemplo, sala cheia, token desconhecido, turno incorreto, jogada inválida ou partida encerrada. O cliente desabilita controles fora da vez para orientar a pessoa, mas isso não substitui a validação no serviço.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Duração: 2 minutos, incluindo a demonstração. Deixe o Spring Boot rodando na porta 8080 e o Vite em 5173. Abra dois navegadores ou contextos separados para testar como clientes distintos. Mostre a criação, entrada, alternância de turno e sincronização. Quando possível, conclua a partida com três gols. Mencione que há testes JUnit no backend e Vitest no React; não invente resultados durante a apresentação: rode os comandos e mostre o resultado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Encerramento (45 s). Seja transparente sobre os limites: o estado não é persistido em banco, o polling substitui WebSocket nesta versão e a física é simplificada. Reiniciar o backend elimina as partidas em andamento. Termine reforçando que o MVP demonstra dois clientes, chamadas RPC, estado centralizado e validação de turno no servidor. Se o professor exigir expansão, essas limitações indicam caminhos para evolução.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5bf27c9e947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81f978cbf49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32161db024d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5630d74534f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23b542af549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6046894a64b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B602CA-1B25-4241-9771-147146F2C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620632-AF93-47D7-BE6D-904756708E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A53D01-37C1-4580-BCD5-C1F1409028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EDB275-35FB-429D-BC54-379B4F1C50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E26608-7851-45BB-9D7D-F84E65C494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A14F2E-3D0D-4E95-920C-BA126AA366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EEBE3D-970E-4948-AD6B-7AE50D7C4D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E5AAE9-18EC-4897-AF02-1FAE6AD49E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495EF7-F223-4313-9C37-ACC04C076B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11DA23-3D21-4953-907A-6ED6C5C6DF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2faa392b6d4ced" /><Relationship Type="http://schemas.openxmlformats.org/officeDocument/2006/relationships/slideLayout" Target="/ppt/slideLayouts/slideLayout1.xml" Id="Rb88493cb5b8842ae" /><Relationship Type="http://schemas.openxmlformats.org/officeDocument/2006/relationships/slideLayout" Target="/ppt/slideLayouts/slideLayout2.xml" Id="R032255c4b3b741d2" /><Relationship Type="http://schemas.openxmlformats.org/officeDocument/2006/relationships/slideLayout" Target="/ppt/slideLayouts/slideLayout3.xml" Id="R57aae745c0054cb8" /><Relationship Type="http://schemas.openxmlformats.org/officeDocument/2006/relationships/slideLayout" Target="/ppt/slideLayouts/slideLayout4.xml" Id="Rfc97840343e94a58" /><Relationship Type="http://schemas.openxmlformats.org/officeDocument/2006/relationships/slideLayout" Target="/ppt/slideLayouts/slideLayout5.xml" Id="Rdfc1f161ebba450b" /><Relationship Type="http://schemas.openxmlformats.org/officeDocument/2006/relationships/slideLayout" Target="/ppt/slideLayouts/slideLayout6.xml" Id="R9f1e920079e144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8493cb5b8842ae"/>
    <p:sldLayoutId xmlns:r="http://schemas.openxmlformats.org/officeDocument/2006/relationships" id="2147483650" r:id="R032255c4b3b741d2"/>
    <p:sldLayoutId xmlns:r="http://schemas.openxmlformats.org/officeDocument/2006/relationships" id="2147483651" r:id="R57aae745c0054cb8"/>
    <p:sldLayoutId xmlns:r="http://schemas.openxmlformats.org/officeDocument/2006/relationships" id="2147483652" r:id="Rfc97840343e94a58"/>
    <p:sldLayoutId xmlns:r="http://schemas.openxmlformats.org/officeDocument/2006/relationships" id="2147483653" r:id="Rdfc1f161ebba450b"/>
    <p:sldLayoutId xmlns:r="http://schemas.openxmlformats.org/officeDocument/2006/relationships" id="2147483654" r:id="R9f1e920079e144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93838db3444b4" /><Relationship Type="http://schemas.openxmlformats.org/officeDocument/2006/relationships/notesSlide" Target="/ppt/notesSlides/notesSlide1.xml" Id="R38f1adaf0df544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757b5805240ef" /><Relationship Type="http://schemas.openxmlformats.org/officeDocument/2006/relationships/notesSlide" Target="/ppt/notesSlides/notesSlide2.xml" Id="Reafaace2e9f84f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068130cb944c1" /><Relationship Type="http://schemas.openxmlformats.org/officeDocument/2006/relationships/notesSlide" Target="/ppt/notesSlides/notesSlide3.xml" Id="R4da6dd9c177640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8f1733f44487e" /><Relationship Type="http://schemas.openxmlformats.org/officeDocument/2006/relationships/notesSlide" Target="/ppt/notesSlides/notesSlide4.xml" Id="R9c9c1c2e24a646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21032688be40c8" /><Relationship Type="http://schemas.openxmlformats.org/officeDocument/2006/relationships/notesSlide" Target="/ppt/notesSlides/notesSlide5.xml" Id="R87420a18291f4e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0ecc5d1363484f" /><Relationship Type="http://schemas.openxmlformats.org/officeDocument/2006/relationships/notesSlide" Target="/ppt/notesSlides/notesSlide6.xml" Id="R066f4b13460948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a25e801684e0a" /><Relationship Type="http://schemas.openxmlformats.org/officeDocument/2006/relationships/notesSlide" Target="/ppt/notesSlides/notesSlide7.xml" Id="Rac190b3872aa4a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7afdb98d7436c" /><Relationship Type="http://schemas.openxmlformats.org/officeDocument/2006/relationships/notesSlide" Target="/ppt/notesSlides/notesSlide8.xml" Id="Rbbe4476589024b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ae438374e745ba" /><Relationship Type="http://schemas.openxmlformats.org/officeDocument/2006/relationships/notesSlide" Target="/ppt/notesSlides/notesSlide9.xml" Id="R1ce1d084211c44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B195D-4BBD-4202-92B4-A84FACC7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20618"/>
                </a:solidFill>
              </a:defRPr>
            </a:defPPr>
            <a:lvl1pPr>
              <a:defRPr sz="3600" b="1">
                <a:solidFill>
                  <a:srgbClr val="020618"/>
                </a:solidFill>
              </a:defRPr>
            </a:lvl1pPr>
            <a:lvl2pPr>
              <a:defRPr sz="3600" b="1">
                <a:solidFill>
                  <a:srgbClr val="020618"/>
                </a:solidFill>
              </a:defRPr>
            </a:lvl2pPr>
            <a:lvl3pPr>
              <a:defRPr sz="3600" b="1">
                <a:solidFill>
                  <a:srgbClr val="020618"/>
                </a:solidFill>
              </a:defRPr>
            </a:lvl3pPr>
            <a:lvl4pPr>
              <a:defRPr sz="3600" b="1">
                <a:solidFill>
                  <a:srgbClr val="020618"/>
                </a:solidFill>
              </a:defRPr>
            </a:lvl4pPr>
            <a:lvl5pPr>
              <a:defRPr sz="3600" b="1">
                <a:solidFill>
                  <a:srgbClr val="020618"/>
                </a:solidFill>
              </a:defRPr>
            </a:lvl5pPr>
            <a:lvl6pPr>
              <a:defRPr sz="3600" b="1">
                <a:solidFill>
                  <a:srgbClr val="020618"/>
                </a:solidFill>
              </a:defRPr>
            </a:lvl6pPr>
            <a:lvl7pPr>
              <a:defRPr sz="3600" b="1">
                <a:solidFill>
                  <a:srgbClr val="020618"/>
                </a:solidFill>
              </a:defRPr>
            </a:lvl7pPr>
            <a:lvl8pPr>
              <a:defRPr sz="3600" b="1">
                <a:solidFill>
                  <a:srgbClr val="020618"/>
                </a:solidFill>
              </a:defRPr>
            </a:lvl8pPr>
            <a:lvl9pPr>
              <a:defRPr sz="3600" b="1">
                <a:solidFill>
                  <a:srgbClr val="020618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FutBotão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D3C05-CE2D-4C88-9E61-0FE4CC99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14158"/>
                </a:solidFill>
              </a:defRPr>
            </a:defPPr>
            <a:lvl1pPr>
              <a:defRPr sz="2550" b="0">
                <a:solidFill>
                  <a:srgbClr val="314158"/>
                </a:solidFill>
              </a:defRPr>
            </a:lvl1pPr>
            <a:lvl2pPr>
              <a:defRPr sz="2550" b="0">
                <a:solidFill>
                  <a:srgbClr val="314158"/>
                </a:solidFill>
              </a:defRPr>
            </a:lvl2pPr>
            <a:lvl3pPr>
              <a:defRPr sz="2550" b="0">
                <a:solidFill>
                  <a:srgbClr val="314158"/>
                </a:solidFill>
              </a:defRPr>
            </a:lvl3pPr>
            <a:lvl4pPr>
              <a:defRPr sz="2550" b="0">
                <a:solidFill>
                  <a:srgbClr val="314158"/>
                </a:solidFill>
              </a:defRPr>
            </a:lvl4pPr>
            <a:lvl5pPr>
              <a:defRPr sz="2550" b="0">
                <a:solidFill>
                  <a:srgbClr val="314158"/>
                </a:solidFill>
              </a:defRPr>
            </a:lvl5pPr>
            <a:lvl6pPr>
              <a:defRPr sz="2550" b="0">
                <a:solidFill>
                  <a:srgbClr val="314158"/>
                </a:solidFill>
              </a:defRPr>
            </a:lvl6pPr>
            <a:lvl7pPr>
              <a:defRPr sz="2550" b="0">
                <a:solidFill>
                  <a:srgbClr val="314158"/>
                </a:solidFill>
              </a:defRPr>
            </a:lvl7pPr>
            <a:lvl8pPr>
              <a:defRPr sz="2550" b="0">
                <a:solidFill>
                  <a:srgbClr val="314158"/>
                </a:solidFill>
              </a:defRPr>
            </a:lvl8pPr>
            <a:lvl9pPr>
              <a:defRPr sz="2550" b="0">
                <a:solidFill>
                  <a:srgbClr val="314158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14158"/>
                </a:solidFill>
              </a:defRPr>
            </a:pPr>
            <a:r>
              <a:rPr sz="2550" b="0">
                <a:solidFill>
                  <a:srgbClr val="314158"/>
                </a:solidFill>
              </a:rPr>
              <a:t>Jogo 2D para duas pessoas</a:t>
            </a:r>
          </a:p>
          <a:p xmlns:a="http://schemas.openxmlformats.org/drawingml/2006/main">
            <a:pPr>
              <a:defRPr sz="2550" b="0">
                <a:solidFill>
                  <a:srgbClr val="314158"/>
                </a:solidFill>
              </a:defRPr>
            </a:pPr>
            <a:r>
              <a:rPr sz="2550" b="0">
                <a:solidFill>
                  <a:srgbClr val="314158"/>
                </a:solidFill>
              </a:rPr>
              <a:t>React + Spring Boot</a:t>
            </a:r>
          </a:p>
          <a:p xmlns:a="http://schemas.openxmlformats.org/drawingml/2006/main">
            <a:pPr>
              <a:defRPr sz="2550" b="0">
                <a:solidFill>
                  <a:srgbClr val="314158"/>
                </a:solidFill>
              </a:defRPr>
            </a:pPr>
            <a:r>
              <a:rPr sz="2550" b="0">
                <a:solidFill>
                  <a:srgbClr val="314158"/>
                </a:solidFill>
              </a:rPr>
              <a:t>JSON-RPC 2.0</a:t>
            </a:r>
          </a:p>
        </p:txBody>
      </p:sp>
    </p:spTree>
    <p:extLst>
      <p:ext uri="{BB962C8B-B14F-4D97-AF65-F5344CB8AC3E}">
        <p14:creationId xmlns:p14="http://schemas.microsoft.com/office/powerpoint/2010/main" val="1223602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EB9E1-A8CC-472A-B81E-EE5F34FA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20618"/>
                </a:solidFill>
              </a:defRPr>
            </a:defPPr>
            <a:lvl1pPr>
              <a:defRPr sz="3600" b="1">
                <a:solidFill>
                  <a:srgbClr val="020618"/>
                </a:solidFill>
              </a:defRPr>
            </a:lvl1pPr>
            <a:lvl2pPr>
              <a:defRPr sz="3600" b="1">
                <a:solidFill>
                  <a:srgbClr val="020618"/>
                </a:solidFill>
              </a:defRPr>
            </a:lvl2pPr>
            <a:lvl3pPr>
              <a:defRPr sz="3600" b="1">
                <a:solidFill>
                  <a:srgbClr val="020618"/>
                </a:solidFill>
              </a:defRPr>
            </a:lvl3pPr>
            <a:lvl4pPr>
              <a:defRPr sz="3600" b="1">
                <a:solidFill>
                  <a:srgbClr val="020618"/>
                </a:solidFill>
              </a:defRPr>
            </a:lvl4pPr>
            <a:lvl5pPr>
              <a:defRPr sz="3600" b="1">
                <a:solidFill>
                  <a:srgbClr val="020618"/>
                </a:solidFill>
              </a:defRPr>
            </a:lvl5pPr>
            <a:lvl6pPr>
              <a:defRPr sz="3600" b="1">
                <a:solidFill>
                  <a:srgbClr val="020618"/>
                </a:solidFill>
              </a:defRPr>
            </a:lvl6pPr>
            <a:lvl7pPr>
              <a:defRPr sz="3600" b="1">
                <a:solidFill>
                  <a:srgbClr val="020618"/>
                </a:solidFill>
              </a:defRPr>
            </a:lvl7pPr>
            <a:lvl8pPr>
              <a:defRPr sz="3600" b="1">
                <a:solidFill>
                  <a:srgbClr val="020618"/>
                </a:solidFill>
              </a:defRPr>
            </a:lvl8pPr>
            <a:lvl9pPr>
              <a:defRPr sz="3600" b="1">
                <a:solidFill>
                  <a:srgbClr val="020618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12950-CA8D-40E4-8849-9E2A2CA8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14158"/>
                </a:solidFill>
              </a:defRPr>
            </a:defPPr>
            <a:lvl1pPr>
              <a:defRPr sz="2175" b="0">
                <a:solidFill>
                  <a:srgbClr val="314158"/>
                </a:solidFill>
              </a:defRPr>
            </a:lvl1pPr>
            <a:lvl2pPr>
              <a:defRPr sz="2175" b="0">
                <a:solidFill>
                  <a:srgbClr val="314158"/>
                </a:solidFill>
              </a:defRPr>
            </a:lvl2pPr>
            <a:lvl3pPr>
              <a:defRPr sz="2175" b="0">
                <a:solidFill>
                  <a:srgbClr val="314158"/>
                </a:solidFill>
              </a:defRPr>
            </a:lvl3pPr>
            <a:lvl4pPr>
              <a:defRPr sz="2175" b="0">
                <a:solidFill>
                  <a:srgbClr val="314158"/>
                </a:solidFill>
              </a:defRPr>
            </a:lvl4pPr>
            <a:lvl5pPr>
              <a:defRPr sz="2175" b="0">
                <a:solidFill>
                  <a:srgbClr val="314158"/>
                </a:solidFill>
              </a:defRPr>
            </a:lvl5pPr>
            <a:lvl6pPr>
              <a:defRPr sz="2175" b="0">
                <a:solidFill>
                  <a:srgbClr val="314158"/>
                </a:solidFill>
              </a:defRPr>
            </a:lvl6pPr>
            <a:lvl7pPr>
              <a:defRPr sz="2175" b="0">
                <a:solidFill>
                  <a:srgbClr val="314158"/>
                </a:solidFill>
              </a:defRPr>
            </a:lvl7pPr>
            <a:lvl8pPr>
              <a:defRPr sz="2175" b="0">
                <a:solidFill>
                  <a:srgbClr val="314158"/>
                </a:solidFill>
              </a:defRPr>
            </a:lvl8pPr>
            <a:lvl9pPr>
              <a:defRPr sz="2175" b="0">
                <a:solidFill>
                  <a:srgbClr val="314158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Dois navegadores consultam a mesma partida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React + Vite → POST /rpc → Spring Boot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PartidaService mantém o estado compartilhado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Frontend: 5173  •  Backend: 8080</a:t>
            </a:r>
          </a:p>
        </p:txBody>
      </p:sp>
    </p:spTree>
    <p:extLst>
      <p:ext uri="{BB962C8B-B14F-4D97-AF65-F5344CB8AC3E}">
        <p14:creationId xmlns:p14="http://schemas.microsoft.com/office/powerpoint/2010/main" val="14392564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061E2-24A4-416C-892A-6A3A462C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20618"/>
                </a:solidFill>
              </a:defRPr>
            </a:defPPr>
            <a:lvl1pPr>
              <a:defRPr sz="3600" b="1">
                <a:solidFill>
                  <a:srgbClr val="020618"/>
                </a:solidFill>
              </a:defRPr>
            </a:lvl1pPr>
            <a:lvl2pPr>
              <a:defRPr sz="3600" b="1">
                <a:solidFill>
                  <a:srgbClr val="020618"/>
                </a:solidFill>
              </a:defRPr>
            </a:lvl2pPr>
            <a:lvl3pPr>
              <a:defRPr sz="3600" b="1">
                <a:solidFill>
                  <a:srgbClr val="020618"/>
                </a:solidFill>
              </a:defRPr>
            </a:lvl3pPr>
            <a:lvl4pPr>
              <a:defRPr sz="3600" b="1">
                <a:solidFill>
                  <a:srgbClr val="020618"/>
                </a:solidFill>
              </a:defRPr>
            </a:lvl4pPr>
            <a:lvl5pPr>
              <a:defRPr sz="3600" b="1">
                <a:solidFill>
                  <a:srgbClr val="020618"/>
                </a:solidFill>
              </a:defRPr>
            </a:lvl5pPr>
            <a:lvl6pPr>
              <a:defRPr sz="3600" b="1">
                <a:solidFill>
                  <a:srgbClr val="020618"/>
                </a:solidFill>
              </a:defRPr>
            </a:lvl6pPr>
            <a:lvl7pPr>
              <a:defRPr sz="3600" b="1">
                <a:solidFill>
                  <a:srgbClr val="020618"/>
                </a:solidFill>
              </a:defRPr>
            </a:lvl7pPr>
            <a:lvl8pPr>
              <a:defRPr sz="3600" b="1">
                <a:solidFill>
                  <a:srgbClr val="020618"/>
                </a:solidFill>
              </a:defRPr>
            </a:lvl8pPr>
            <a:lvl9pPr>
              <a:defRPr sz="3600" b="1">
                <a:solidFill>
                  <a:srgbClr val="020618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Ciclo da 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F25FC-9969-43BD-B7B3-291407E0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14158"/>
                </a:solidFill>
              </a:defRPr>
            </a:defPPr>
            <a:lvl1pPr>
              <a:defRPr sz="2175" b="0">
                <a:solidFill>
                  <a:srgbClr val="314158"/>
                </a:solidFill>
              </a:defRPr>
            </a:lvl1pPr>
            <a:lvl2pPr>
              <a:defRPr sz="2175" b="0">
                <a:solidFill>
                  <a:srgbClr val="314158"/>
                </a:solidFill>
              </a:defRPr>
            </a:lvl2pPr>
            <a:lvl3pPr>
              <a:defRPr sz="2175" b="0">
                <a:solidFill>
                  <a:srgbClr val="314158"/>
                </a:solidFill>
              </a:defRPr>
            </a:lvl3pPr>
            <a:lvl4pPr>
              <a:defRPr sz="2175" b="0">
                <a:solidFill>
                  <a:srgbClr val="314158"/>
                </a:solidFill>
              </a:defRPr>
            </a:lvl4pPr>
            <a:lvl5pPr>
              <a:defRPr sz="2175" b="0">
                <a:solidFill>
                  <a:srgbClr val="314158"/>
                </a:solidFill>
              </a:defRPr>
            </a:lvl5pPr>
            <a:lvl6pPr>
              <a:defRPr sz="2175" b="0">
                <a:solidFill>
                  <a:srgbClr val="314158"/>
                </a:solidFill>
              </a:defRPr>
            </a:lvl6pPr>
            <a:lvl7pPr>
              <a:defRPr sz="2175" b="0">
                <a:solidFill>
                  <a:srgbClr val="314158"/>
                </a:solidFill>
              </a:defRPr>
            </a:lvl7pPr>
            <a:lvl8pPr>
              <a:defRPr sz="2175" b="0">
                <a:solidFill>
                  <a:srgbClr val="314158"/>
                </a:solidFill>
              </a:defRPr>
            </a:lvl8pPr>
            <a:lvl9pPr>
              <a:defRPr sz="2175" b="0">
                <a:solidFill>
                  <a:srgbClr val="314158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1. Criar sala → código e token do jogador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2. Segundo cliente entra → partida começa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3. Cliente envia uma jogada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4. Servidor valida e atualiza o estado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5. Os dois clientes consultam o novo estado</a:t>
            </a:r>
          </a:p>
        </p:txBody>
      </p:sp>
    </p:spTree>
    <p:extLst>
      <p:ext uri="{BB962C8B-B14F-4D97-AF65-F5344CB8AC3E}">
        <p14:creationId xmlns:p14="http://schemas.microsoft.com/office/powerpoint/2010/main" val="739945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CFBC9-5340-493F-B123-A70A4060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20618"/>
                </a:solidFill>
              </a:defRPr>
            </a:defPPr>
            <a:lvl1pPr>
              <a:defRPr sz="3600" b="1">
                <a:solidFill>
                  <a:srgbClr val="020618"/>
                </a:solidFill>
              </a:defRPr>
            </a:lvl1pPr>
            <a:lvl2pPr>
              <a:defRPr sz="3600" b="1">
                <a:solidFill>
                  <a:srgbClr val="020618"/>
                </a:solidFill>
              </a:defRPr>
            </a:lvl2pPr>
            <a:lvl3pPr>
              <a:defRPr sz="3600" b="1">
                <a:solidFill>
                  <a:srgbClr val="020618"/>
                </a:solidFill>
              </a:defRPr>
            </a:lvl3pPr>
            <a:lvl4pPr>
              <a:defRPr sz="3600" b="1">
                <a:solidFill>
                  <a:srgbClr val="020618"/>
                </a:solidFill>
              </a:defRPr>
            </a:lvl4pPr>
            <a:lvl5pPr>
              <a:defRPr sz="3600" b="1">
                <a:solidFill>
                  <a:srgbClr val="020618"/>
                </a:solidFill>
              </a:defRPr>
            </a:lvl5pPr>
            <a:lvl6pPr>
              <a:defRPr sz="3600" b="1">
                <a:solidFill>
                  <a:srgbClr val="020618"/>
                </a:solidFill>
              </a:defRPr>
            </a:lvl6pPr>
            <a:lvl7pPr>
              <a:defRPr sz="3600" b="1">
                <a:solidFill>
                  <a:srgbClr val="020618"/>
                </a:solidFill>
              </a:defRPr>
            </a:lvl7pPr>
            <a:lvl8pPr>
              <a:defRPr sz="3600" b="1">
                <a:solidFill>
                  <a:srgbClr val="020618"/>
                </a:solidFill>
              </a:defRPr>
            </a:lvl8pPr>
            <a:lvl9pPr>
              <a:defRPr sz="3600" b="1">
                <a:solidFill>
                  <a:srgbClr val="020618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Backend Spring Boot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566F9-5D2A-432B-AE68-7CF84B06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14158"/>
                </a:solidFill>
              </a:defRPr>
            </a:defPPr>
            <a:lvl1pPr>
              <a:defRPr sz="2175" b="0">
                <a:solidFill>
                  <a:srgbClr val="314158"/>
                </a:solidFill>
              </a:defRPr>
            </a:lvl1pPr>
            <a:lvl2pPr>
              <a:defRPr sz="2175" b="0">
                <a:solidFill>
                  <a:srgbClr val="314158"/>
                </a:solidFill>
              </a:defRPr>
            </a:lvl2pPr>
            <a:lvl3pPr>
              <a:defRPr sz="2175" b="0">
                <a:solidFill>
                  <a:srgbClr val="314158"/>
                </a:solidFill>
              </a:defRPr>
            </a:lvl3pPr>
            <a:lvl4pPr>
              <a:defRPr sz="2175" b="0">
                <a:solidFill>
                  <a:srgbClr val="314158"/>
                </a:solidFill>
              </a:defRPr>
            </a:lvl4pPr>
            <a:lvl5pPr>
              <a:defRPr sz="2175" b="0">
                <a:solidFill>
                  <a:srgbClr val="314158"/>
                </a:solidFill>
              </a:defRPr>
            </a:lvl5pPr>
            <a:lvl6pPr>
              <a:defRPr sz="2175" b="0">
                <a:solidFill>
                  <a:srgbClr val="314158"/>
                </a:solidFill>
              </a:defRPr>
            </a:lvl6pPr>
            <a:lvl7pPr>
              <a:defRPr sz="2175" b="0">
                <a:solidFill>
                  <a:srgbClr val="314158"/>
                </a:solidFill>
              </a:defRPr>
            </a:lvl7pPr>
            <a:lvl8pPr>
              <a:defRPr sz="2175" b="0">
                <a:solidFill>
                  <a:srgbClr val="314158"/>
                </a:solidFill>
              </a:defRPr>
            </a:lvl8pPr>
            <a:lvl9pPr>
              <a:defRPr sz="2175" b="0">
                <a:solidFill>
                  <a:srgbClr val="314158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FutBotaoApplication: inicializa o servidor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JsonRpcController: valida e despacha /rpc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PartidaService: estado e regras da partida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ConcurrentHashMap: salas em memória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synchronized por sala: serializa alterações</a:t>
            </a:r>
          </a:p>
        </p:txBody>
      </p:sp>
    </p:spTree>
    <p:extLst>
      <p:ext uri="{BB962C8B-B14F-4D97-AF65-F5344CB8AC3E}">
        <p14:creationId xmlns:p14="http://schemas.microsoft.com/office/powerpoint/2010/main" val="1687141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7C7A6-ECF7-4C0F-BEC9-47FCD002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20618"/>
                </a:solidFill>
              </a:defRPr>
            </a:defPPr>
            <a:lvl1pPr>
              <a:defRPr sz="3600" b="1">
                <a:solidFill>
                  <a:srgbClr val="020618"/>
                </a:solidFill>
              </a:defRPr>
            </a:lvl1pPr>
            <a:lvl2pPr>
              <a:defRPr sz="3600" b="1">
                <a:solidFill>
                  <a:srgbClr val="020618"/>
                </a:solidFill>
              </a:defRPr>
            </a:lvl2pPr>
            <a:lvl3pPr>
              <a:defRPr sz="3600" b="1">
                <a:solidFill>
                  <a:srgbClr val="020618"/>
                </a:solidFill>
              </a:defRPr>
            </a:lvl3pPr>
            <a:lvl4pPr>
              <a:defRPr sz="3600" b="1">
                <a:solidFill>
                  <a:srgbClr val="020618"/>
                </a:solidFill>
              </a:defRPr>
            </a:lvl4pPr>
            <a:lvl5pPr>
              <a:defRPr sz="3600" b="1">
                <a:solidFill>
                  <a:srgbClr val="020618"/>
                </a:solidFill>
              </a:defRPr>
            </a:lvl5pPr>
            <a:lvl6pPr>
              <a:defRPr sz="3600" b="1">
                <a:solidFill>
                  <a:srgbClr val="020618"/>
                </a:solidFill>
              </a:defRPr>
            </a:lvl6pPr>
            <a:lvl7pPr>
              <a:defRPr sz="3600" b="1">
                <a:solidFill>
                  <a:srgbClr val="020618"/>
                </a:solidFill>
              </a:defRPr>
            </a:lvl7pPr>
            <a:lvl8pPr>
              <a:defRPr sz="3600" b="1">
                <a:solidFill>
                  <a:srgbClr val="020618"/>
                </a:solidFill>
              </a:defRPr>
            </a:lvl8pPr>
            <a:lvl9pPr>
              <a:defRPr sz="3600" b="1">
                <a:solidFill>
                  <a:srgbClr val="020618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Regras de movimento e gol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00664-D15C-49C0-9004-2079ED95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14158"/>
                </a:solidFill>
              </a:defRPr>
            </a:defPPr>
            <a:lvl1pPr>
              <a:defRPr sz="2175" b="0">
                <a:solidFill>
                  <a:srgbClr val="314158"/>
                </a:solidFill>
              </a:defRPr>
            </a:lvl1pPr>
            <a:lvl2pPr>
              <a:defRPr sz="2175" b="0">
                <a:solidFill>
                  <a:srgbClr val="314158"/>
                </a:solidFill>
              </a:defRPr>
            </a:lvl2pPr>
            <a:lvl3pPr>
              <a:defRPr sz="2175" b="0">
                <a:solidFill>
                  <a:srgbClr val="314158"/>
                </a:solidFill>
              </a:defRPr>
            </a:lvl3pPr>
            <a:lvl4pPr>
              <a:defRPr sz="2175" b="0">
                <a:solidFill>
                  <a:srgbClr val="314158"/>
                </a:solidFill>
              </a:defRPr>
            </a:lvl4pPr>
            <a:lvl5pPr>
              <a:defRPr sz="2175" b="0">
                <a:solidFill>
                  <a:srgbClr val="314158"/>
                </a:solidFill>
              </a:defRPr>
            </a:lvl5pPr>
            <a:lvl6pPr>
              <a:defRPr sz="2175" b="0">
                <a:solidFill>
                  <a:srgbClr val="314158"/>
                </a:solidFill>
              </a:defRPr>
            </a:lvl6pPr>
            <a:lvl7pPr>
              <a:defRPr sz="2175" b="0">
                <a:solidFill>
                  <a:srgbClr val="314158"/>
                </a:solidFill>
              </a:defRPr>
            </a:lvl7pPr>
            <a:lvl8pPr>
              <a:defRPr sz="2175" b="0">
                <a:solidFill>
                  <a:srgbClr val="314158"/>
                </a:solidFill>
              </a:defRPr>
            </a:lvl8pPr>
            <a:lvl9pPr>
              <a:defRPr sz="2175" b="0">
                <a:solidFill>
                  <a:srgbClr val="314158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Campo lógico: 100 × 60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Força máxima move a peça até 20 unidades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Contato com a bola: distância até 2,5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Bola percorre 1,5× o trecho após o contato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Gol na faixa Y = 25 a Y = 35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Três gols encerram a partida</a:t>
            </a:r>
          </a:p>
        </p:txBody>
      </p:sp>
    </p:spTree>
    <p:extLst>
      <p:ext uri="{BB962C8B-B14F-4D97-AF65-F5344CB8AC3E}">
        <p14:creationId xmlns:p14="http://schemas.microsoft.com/office/powerpoint/2010/main" val="1053351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0AFC8-E474-452C-B858-4ADA95B4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20618"/>
                </a:solidFill>
              </a:defRPr>
            </a:defPPr>
            <a:lvl1pPr>
              <a:defRPr sz="3600" b="1">
                <a:solidFill>
                  <a:srgbClr val="020618"/>
                </a:solidFill>
              </a:defRPr>
            </a:lvl1pPr>
            <a:lvl2pPr>
              <a:defRPr sz="3600" b="1">
                <a:solidFill>
                  <a:srgbClr val="020618"/>
                </a:solidFill>
              </a:defRPr>
            </a:lvl2pPr>
            <a:lvl3pPr>
              <a:defRPr sz="3600" b="1">
                <a:solidFill>
                  <a:srgbClr val="020618"/>
                </a:solidFill>
              </a:defRPr>
            </a:lvl3pPr>
            <a:lvl4pPr>
              <a:defRPr sz="3600" b="1">
                <a:solidFill>
                  <a:srgbClr val="020618"/>
                </a:solidFill>
              </a:defRPr>
            </a:lvl4pPr>
            <a:lvl5pPr>
              <a:defRPr sz="3600" b="1">
                <a:solidFill>
                  <a:srgbClr val="020618"/>
                </a:solidFill>
              </a:defRPr>
            </a:lvl5pPr>
            <a:lvl6pPr>
              <a:defRPr sz="3600" b="1">
                <a:solidFill>
                  <a:srgbClr val="020618"/>
                </a:solidFill>
              </a:defRPr>
            </a:lvl6pPr>
            <a:lvl7pPr>
              <a:defRPr sz="3600" b="1">
                <a:solidFill>
                  <a:srgbClr val="020618"/>
                </a:solidFill>
              </a:defRPr>
            </a:lvl7pPr>
            <a:lvl8pPr>
              <a:defRPr sz="3600" b="1">
                <a:solidFill>
                  <a:srgbClr val="020618"/>
                </a:solidFill>
              </a:defRPr>
            </a:lvl8pPr>
            <a:lvl9pPr>
              <a:defRPr sz="3600" b="1">
                <a:solidFill>
                  <a:srgbClr val="020618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Frontend React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E3393-C06C-4B73-A60A-92707C6A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14158"/>
                </a:solidFill>
              </a:defRPr>
            </a:defPPr>
            <a:lvl1pPr>
              <a:defRPr sz="2175" b="0">
                <a:solidFill>
                  <a:srgbClr val="314158"/>
                </a:solidFill>
              </a:defRPr>
            </a:lvl1pPr>
            <a:lvl2pPr>
              <a:defRPr sz="2175" b="0">
                <a:solidFill>
                  <a:srgbClr val="314158"/>
                </a:solidFill>
              </a:defRPr>
            </a:lvl2pPr>
            <a:lvl3pPr>
              <a:defRPr sz="2175" b="0">
                <a:solidFill>
                  <a:srgbClr val="314158"/>
                </a:solidFill>
              </a:defRPr>
            </a:lvl3pPr>
            <a:lvl4pPr>
              <a:defRPr sz="2175" b="0">
                <a:solidFill>
                  <a:srgbClr val="314158"/>
                </a:solidFill>
              </a:defRPr>
            </a:lvl4pPr>
            <a:lvl5pPr>
              <a:defRPr sz="2175" b="0">
                <a:solidFill>
                  <a:srgbClr val="314158"/>
                </a:solidFill>
              </a:defRPr>
            </a:lvl5pPr>
            <a:lvl6pPr>
              <a:defRPr sz="2175" b="0">
                <a:solidFill>
                  <a:srgbClr val="314158"/>
                </a:solidFill>
              </a:defRPr>
            </a:lvl6pPr>
            <a:lvl7pPr>
              <a:defRPr sz="2175" b="0">
                <a:solidFill>
                  <a:srgbClr val="314158"/>
                </a:solidFill>
              </a:defRPr>
            </a:lvl7pPr>
            <a:lvl8pPr>
              <a:defRPr sz="2175" b="0">
                <a:solidFill>
                  <a:srgbClr val="314158"/>
                </a:solidFill>
              </a:defRPr>
            </a:lvl8pPr>
            <a:lvl9pPr>
              <a:defRPr sz="2175" b="0">
                <a:solidFill>
                  <a:srgbClr val="314158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App.tsx escolhe a tela pela fase do jogo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usePartida coordena sessão, ações e polling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api/rpc.ts envia e interpreta JSON-RPC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components/ desenha telas, campo e placar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game/geometria.ts calcula gesto e mira</a:t>
            </a:r>
          </a:p>
        </p:txBody>
      </p:sp>
    </p:spTree>
    <p:extLst>
      <p:ext uri="{BB962C8B-B14F-4D97-AF65-F5344CB8AC3E}">
        <p14:creationId xmlns:p14="http://schemas.microsoft.com/office/powerpoint/2010/main" val="5981892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146A1-6025-4342-B20F-A2836B55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20618"/>
                </a:solidFill>
              </a:defRPr>
            </a:defPPr>
            <a:lvl1pPr>
              <a:defRPr sz="3600" b="1">
                <a:solidFill>
                  <a:srgbClr val="020618"/>
                </a:solidFill>
              </a:defRPr>
            </a:lvl1pPr>
            <a:lvl2pPr>
              <a:defRPr sz="3600" b="1">
                <a:solidFill>
                  <a:srgbClr val="020618"/>
                </a:solidFill>
              </a:defRPr>
            </a:lvl2pPr>
            <a:lvl3pPr>
              <a:defRPr sz="3600" b="1">
                <a:solidFill>
                  <a:srgbClr val="020618"/>
                </a:solidFill>
              </a:defRPr>
            </a:lvl3pPr>
            <a:lvl4pPr>
              <a:defRPr sz="3600" b="1">
                <a:solidFill>
                  <a:srgbClr val="020618"/>
                </a:solidFill>
              </a:defRPr>
            </a:lvl4pPr>
            <a:lvl5pPr>
              <a:defRPr sz="3600" b="1">
                <a:solidFill>
                  <a:srgbClr val="020618"/>
                </a:solidFill>
              </a:defRPr>
            </a:lvl5pPr>
            <a:lvl6pPr>
              <a:defRPr sz="3600" b="1">
                <a:solidFill>
                  <a:srgbClr val="020618"/>
                </a:solidFill>
              </a:defRPr>
            </a:lvl6pPr>
            <a:lvl7pPr>
              <a:defRPr sz="3600" b="1">
                <a:solidFill>
                  <a:srgbClr val="020618"/>
                </a:solidFill>
              </a:defRPr>
            </a:lvl7pPr>
            <a:lvl8pPr>
              <a:defRPr sz="3600" b="1">
                <a:solidFill>
                  <a:srgbClr val="020618"/>
                </a:solidFill>
              </a:defRPr>
            </a:lvl8pPr>
            <a:lvl9pPr>
              <a:defRPr sz="3600" b="1">
                <a:solidFill>
                  <a:srgbClr val="020618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Contrato e erros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63C46-226D-47DF-B381-70DB18EA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14158"/>
                </a:solidFill>
              </a:defRPr>
            </a:defPPr>
            <a:lvl1pPr>
              <a:defRPr sz="2175" b="0">
                <a:solidFill>
                  <a:srgbClr val="314158"/>
                </a:solidFill>
              </a:defRPr>
            </a:lvl1pPr>
            <a:lvl2pPr>
              <a:defRPr sz="2175" b="0">
                <a:solidFill>
                  <a:srgbClr val="314158"/>
                </a:solidFill>
              </a:defRPr>
            </a:lvl2pPr>
            <a:lvl3pPr>
              <a:defRPr sz="2175" b="0">
                <a:solidFill>
                  <a:srgbClr val="314158"/>
                </a:solidFill>
              </a:defRPr>
            </a:lvl3pPr>
            <a:lvl4pPr>
              <a:defRPr sz="2175" b="0">
                <a:solidFill>
                  <a:srgbClr val="314158"/>
                </a:solidFill>
              </a:defRPr>
            </a:lvl4pPr>
            <a:lvl5pPr>
              <a:defRPr sz="2175" b="0">
                <a:solidFill>
                  <a:srgbClr val="314158"/>
                </a:solidFill>
              </a:defRPr>
            </a:lvl5pPr>
            <a:lvl6pPr>
              <a:defRPr sz="2175" b="0">
                <a:solidFill>
                  <a:srgbClr val="314158"/>
                </a:solidFill>
              </a:defRPr>
            </a:lvl6pPr>
            <a:lvl7pPr>
              <a:defRPr sz="2175" b="0">
                <a:solidFill>
                  <a:srgbClr val="314158"/>
                </a:solidFill>
              </a:defRPr>
            </a:lvl7pPr>
            <a:lvl8pPr>
              <a:defRPr sz="2175" b="0">
                <a:solidFill>
                  <a:srgbClr val="314158"/>
                </a:solidFill>
              </a:defRPr>
            </a:lvl8pPr>
            <a:lvl9pPr>
              <a:defRPr sz="2175" b="0">
                <a:solidFill>
                  <a:srgbClr val="314158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POST /rpc • JSON-RPC 2.0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partida.criar • partida.entrar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partida.obterEstado • partida.fazerJogada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Servidor responde com result ou error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Turno, token e jogada são validados no servidor</a:t>
            </a:r>
          </a:p>
        </p:txBody>
      </p:sp>
    </p:spTree>
    <p:extLst>
      <p:ext uri="{BB962C8B-B14F-4D97-AF65-F5344CB8AC3E}">
        <p14:creationId xmlns:p14="http://schemas.microsoft.com/office/powerpoint/2010/main" val="1883982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BA238-F60D-4D16-BF00-801519C6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20618"/>
                </a:solidFill>
              </a:defRPr>
            </a:defPPr>
            <a:lvl1pPr>
              <a:defRPr sz="3600" b="1">
                <a:solidFill>
                  <a:srgbClr val="020618"/>
                </a:solidFill>
              </a:defRPr>
            </a:lvl1pPr>
            <a:lvl2pPr>
              <a:defRPr sz="3600" b="1">
                <a:solidFill>
                  <a:srgbClr val="020618"/>
                </a:solidFill>
              </a:defRPr>
            </a:lvl2pPr>
            <a:lvl3pPr>
              <a:defRPr sz="3600" b="1">
                <a:solidFill>
                  <a:srgbClr val="020618"/>
                </a:solidFill>
              </a:defRPr>
            </a:lvl3pPr>
            <a:lvl4pPr>
              <a:defRPr sz="3600" b="1">
                <a:solidFill>
                  <a:srgbClr val="020618"/>
                </a:solidFill>
              </a:defRPr>
            </a:lvl4pPr>
            <a:lvl5pPr>
              <a:defRPr sz="3600" b="1">
                <a:solidFill>
                  <a:srgbClr val="020618"/>
                </a:solidFill>
              </a:defRPr>
            </a:lvl5pPr>
            <a:lvl6pPr>
              <a:defRPr sz="3600" b="1">
                <a:solidFill>
                  <a:srgbClr val="020618"/>
                </a:solidFill>
              </a:defRPr>
            </a:lvl6pPr>
            <a:lvl7pPr>
              <a:defRPr sz="3600" b="1">
                <a:solidFill>
                  <a:srgbClr val="020618"/>
                </a:solidFill>
              </a:defRPr>
            </a:lvl7pPr>
            <a:lvl8pPr>
              <a:defRPr sz="3600" b="1">
                <a:solidFill>
                  <a:srgbClr val="020618"/>
                </a:solidFill>
              </a:defRPr>
            </a:lvl8pPr>
            <a:lvl9pPr>
              <a:defRPr sz="3600" b="1">
                <a:solidFill>
                  <a:srgbClr val="020618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Demonstração e testes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9649E-1896-4D4B-BCA9-361D49A0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14158"/>
                </a:solidFill>
              </a:defRPr>
            </a:defPPr>
            <a:lvl1pPr>
              <a:defRPr sz="2175" b="0">
                <a:solidFill>
                  <a:srgbClr val="314158"/>
                </a:solidFill>
              </a:defRPr>
            </a:lvl1pPr>
            <a:lvl2pPr>
              <a:defRPr sz="2175" b="0">
                <a:solidFill>
                  <a:srgbClr val="314158"/>
                </a:solidFill>
              </a:defRPr>
            </a:lvl2pPr>
            <a:lvl3pPr>
              <a:defRPr sz="2175" b="0">
                <a:solidFill>
                  <a:srgbClr val="314158"/>
                </a:solidFill>
              </a:defRPr>
            </a:lvl3pPr>
            <a:lvl4pPr>
              <a:defRPr sz="2175" b="0">
                <a:solidFill>
                  <a:srgbClr val="314158"/>
                </a:solidFill>
              </a:defRPr>
            </a:lvl4pPr>
            <a:lvl5pPr>
              <a:defRPr sz="2175" b="0">
                <a:solidFill>
                  <a:srgbClr val="314158"/>
                </a:solidFill>
              </a:defRPr>
            </a:lvl5pPr>
            <a:lvl6pPr>
              <a:defRPr sz="2175" b="0">
                <a:solidFill>
                  <a:srgbClr val="314158"/>
                </a:solidFill>
              </a:defRPr>
            </a:lvl6pPr>
            <a:lvl7pPr>
              <a:defRPr sz="2175" b="0">
                <a:solidFill>
                  <a:srgbClr val="314158"/>
                </a:solidFill>
              </a:defRPr>
            </a:lvl7pPr>
            <a:lvl8pPr>
              <a:defRPr sz="2175" b="0">
                <a:solidFill>
                  <a:srgbClr val="314158"/>
                </a:solidFill>
              </a:defRPr>
            </a:lvl8pPr>
            <a:lvl9pPr>
              <a:defRPr sz="2175" b="0">
                <a:solidFill>
                  <a:srgbClr val="314158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1. Iniciar backend e Vite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2. Abrir dois clientes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3. Criar sala e entrar com o código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4. Alternar jogadas e observar o polling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5. Marcar três gols e conferir o encerramento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JUnit no backend  •  Vitest no frontend</a:t>
            </a:r>
          </a:p>
        </p:txBody>
      </p:sp>
    </p:spTree>
    <p:extLst>
      <p:ext uri="{BB962C8B-B14F-4D97-AF65-F5344CB8AC3E}">
        <p14:creationId xmlns:p14="http://schemas.microsoft.com/office/powerpoint/2010/main" val="1231834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32E1C-5E7D-437C-9F49-398B6343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20618"/>
                </a:solidFill>
              </a:defRPr>
            </a:defPPr>
            <a:lvl1pPr>
              <a:defRPr sz="3600" b="1">
                <a:solidFill>
                  <a:srgbClr val="020618"/>
                </a:solidFill>
              </a:defRPr>
            </a:lvl1pPr>
            <a:lvl2pPr>
              <a:defRPr sz="3600" b="1">
                <a:solidFill>
                  <a:srgbClr val="020618"/>
                </a:solidFill>
              </a:defRPr>
            </a:lvl2pPr>
            <a:lvl3pPr>
              <a:defRPr sz="3600" b="1">
                <a:solidFill>
                  <a:srgbClr val="020618"/>
                </a:solidFill>
              </a:defRPr>
            </a:lvl3pPr>
            <a:lvl4pPr>
              <a:defRPr sz="3600" b="1">
                <a:solidFill>
                  <a:srgbClr val="020618"/>
                </a:solidFill>
              </a:defRPr>
            </a:lvl4pPr>
            <a:lvl5pPr>
              <a:defRPr sz="3600" b="1">
                <a:solidFill>
                  <a:srgbClr val="020618"/>
                </a:solidFill>
              </a:defRPr>
            </a:lvl5pPr>
            <a:lvl6pPr>
              <a:defRPr sz="3600" b="1">
                <a:solidFill>
                  <a:srgbClr val="020618"/>
                </a:solidFill>
              </a:defRPr>
            </a:lvl6pPr>
            <a:lvl7pPr>
              <a:defRPr sz="3600" b="1">
                <a:solidFill>
                  <a:srgbClr val="020618"/>
                </a:solidFill>
              </a:defRPr>
            </a:lvl7pPr>
            <a:lvl8pPr>
              <a:defRPr sz="3600" b="1">
                <a:solidFill>
                  <a:srgbClr val="020618"/>
                </a:solidFill>
              </a:defRPr>
            </a:lvl8pPr>
            <a:lvl9pPr>
              <a:defRPr sz="3600" b="1">
                <a:solidFill>
                  <a:srgbClr val="020618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Limites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3F2B7-54AD-40DF-9983-ADEF8793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05156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14158"/>
                </a:solidFill>
              </a:defRPr>
            </a:defPPr>
            <a:lvl1pPr>
              <a:defRPr sz="2175" b="0">
                <a:solidFill>
                  <a:srgbClr val="314158"/>
                </a:solidFill>
              </a:defRPr>
            </a:lvl1pPr>
            <a:lvl2pPr>
              <a:defRPr sz="2175" b="0">
                <a:solidFill>
                  <a:srgbClr val="314158"/>
                </a:solidFill>
              </a:defRPr>
            </a:lvl2pPr>
            <a:lvl3pPr>
              <a:defRPr sz="2175" b="0">
                <a:solidFill>
                  <a:srgbClr val="314158"/>
                </a:solidFill>
              </a:defRPr>
            </a:lvl3pPr>
            <a:lvl4pPr>
              <a:defRPr sz="2175" b="0">
                <a:solidFill>
                  <a:srgbClr val="314158"/>
                </a:solidFill>
              </a:defRPr>
            </a:lvl4pPr>
            <a:lvl5pPr>
              <a:defRPr sz="2175" b="0">
                <a:solidFill>
                  <a:srgbClr val="314158"/>
                </a:solidFill>
              </a:defRPr>
            </a:lvl5pPr>
            <a:lvl6pPr>
              <a:defRPr sz="2175" b="0">
                <a:solidFill>
                  <a:srgbClr val="314158"/>
                </a:solidFill>
              </a:defRPr>
            </a:lvl6pPr>
            <a:lvl7pPr>
              <a:defRPr sz="2175" b="0">
                <a:solidFill>
                  <a:srgbClr val="314158"/>
                </a:solidFill>
              </a:defRPr>
            </a:lvl7pPr>
            <a:lvl8pPr>
              <a:defRPr sz="2175" b="0">
                <a:solidFill>
                  <a:srgbClr val="314158"/>
                </a:solidFill>
              </a:defRPr>
            </a:lvl8pPr>
            <a:lvl9pPr>
              <a:defRPr sz="2175" b="0">
                <a:solidFill>
                  <a:srgbClr val="314158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Salas e jogadores ficam em memória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Reiniciar o servidor apaga as partidas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Polling a cada segundo; sem WebSocket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Física simplificada; sem colisão entre peças</a:t>
            </a:r>
          </a:p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MVP funcional para integração e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485668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2026-10-31T00:20:56.6850000Z</dcterms:created>
  <dcterms:modified xsi:type="dcterms:W3CDTF">2026-10-31T00:20:56.6850000Z</dcterms:modified>
</coreProperties>
</file>